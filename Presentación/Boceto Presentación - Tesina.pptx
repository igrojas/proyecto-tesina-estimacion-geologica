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63" r:id="rId4"/>
    <p:sldId id="258" r:id="rId5"/>
    <p:sldId id="271" r:id="rId6"/>
    <p:sldId id="259" r:id="rId7"/>
    <p:sldId id="261" r:id="rId8"/>
    <p:sldId id="260" r:id="rId9"/>
    <p:sldId id="262" r:id="rId10"/>
    <p:sldId id="264" r:id="rId11"/>
    <p:sldId id="272" r:id="rId12"/>
    <p:sldId id="275" r:id="rId13"/>
    <p:sldId id="265" r:id="rId14"/>
    <p:sldId id="266" r:id="rId15"/>
    <p:sldId id="267" r:id="rId16"/>
    <p:sldId id="268" r:id="rId17"/>
    <p:sldId id="269" r:id="rId18"/>
    <p:sldId id="270" r:id="rId19"/>
    <p:sldId id="273" r:id="rId20"/>
    <p:sldId id="274" r:id="rId21"/>
    <p:sldId id="276" r:id="rId22"/>
    <p:sldId id="277" r:id="rId23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338" autoAdjust="0"/>
    <p:restoredTop sz="95036" autoAdjust="0"/>
  </p:normalViewPr>
  <p:slideViewPr>
    <p:cSldViewPr snapToGrid="0">
      <p:cViewPr varScale="1">
        <p:scale>
          <a:sx n="101" d="100"/>
          <a:sy n="101" d="100"/>
        </p:scale>
        <p:origin x="112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B50ADDF-4509-44D6-9AEA-E972FFA8D9A4}" type="datetimeFigureOut">
              <a:rPr lang="es-CL" smtClean="0"/>
              <a:t>08-02-2026</a:t>
            </a:fld>
            <a:endParaRPr lang="es-CL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L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478B344-68B7-407A-B020-C88CDF15CAF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4615943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78B344-68B7-407A-B020-C88CDF15CAFB}" type="slidenum">
              <a:rPr lang="es-CL" smtClean="0"/>
              <a:t>13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8032112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5ECD3AA-A808-CCCC-623E-C67B50A905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8CD44FD-FF1F-4962-174E-8FBD78DAC6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A17F1A8-7367-9C21-4D0F-8650BA972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F89978-69C7-4378-905A-31587C1AE4AC}" type="datetimeFigureOut">
              <a:rPr lang="es-CL" smtClean="0"/>
              <a:t>08-02-2026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E74B85D-54D7-2FBC-1F5F-ABD4BFD772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911AEE0-07B3-0FE6-66B5-F49C84A623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80ED8-028B-4411-A492-1315B547133A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8960207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F821455-227E-0E39-36A8-B9FF86372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5034E04-E3BA-5ADD-3B35-ADAA010255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623A072-4B59-C7BC-6CE4-3AC1E812B1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F89978-69C7-4378-905A-31587C1AE4AC}" type="datetimeFigureOut">
              <a:rPr lang="es-CL" smtClean="0"/>
              <a:t>08-02-2026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7CB3568-8E6C-044B-F27A-38B17C4B01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5337840-04D7-7AF3-39D5-796D89ABB8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80ED8-028B-4411-A492-1315B547133A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7791695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8B66CA8-F9EB-987C-8F19-5D42174E4A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47D3AA4-A80E-11A9-6164-7589B1B415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673C6E0-CE11-2A69-E1F4-5A047963E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F89978-69C7-4378-905A-31587C1AE4AC}" type="datetimeFigureOut">
              <a:rPr lang="es-CL" smtClean="0"/>
              <a:t>08-02-2026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E060604-A57C-3BE3-00BA-5C9C81A926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5E755D8-1C81-819C-5FC0-EC227B76DD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80ED8-028B-4411-A492-1315B547133A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743013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8B217B9-97A8-14F6-24C7-3212FBF34C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B27DEE2-0023-EC4F-39B4-99D28838C16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1DFF94E7-147F-5085-F93E-82AAD64ED6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65BD538-0853-F9E9-3CBD-C34BE0C18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F89978-69C7-4378-905A-31587C1AE4AC}" type="datetimeFigureOut">
              <a:rPr lang="es-CL" smtClean="0"/>
              <a:t>08-02-2026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3AE2FF6-9080-2120-950D-B09005CBAA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14F32C3-0F59-3692-2512-1004D41CC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80ED8-028B-4411-A492-1315B547133A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3862357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3C0F20F-9038-92D9-0593-49AF45668E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64DAF5A-2FD0-6681-9D36-B760792F7E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623C3C42-B9E4-009F-AF8C-97983B4B06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B09A82BF-F0F8-2C68-02D0-909C3731D6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AC38D0B2-2D6B-75D8-DB5C-0D7B99D72C4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5BEFD196-5D4F-E787-7D33-2A2BBF815E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F89978-69C7-4378-905A-31587C1AE4AC}" type="datetimeFigureOut">
              <a:rPr lang="es-CL" smtClean="0"/>
              <a:t>08-02-2026</a:t>
            </a:fld>
            <a:endParaRPr lang="es-CL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9834C1A4-5537-FC9E-2EB6-72B4D5B259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8E7562BA-3684-185F-2027-981D55A08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80ED8-028B-4411-A492-1315B547133A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4087720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0AE44D-E36A-EBBB-EDF9-975D6D71D5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E725AE1D-F236-30EE-72B9-9E9BBC5B5A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F89978-69C7-4378-905A-31587C1AE4AC}" type="datetimeFigureOut">
              <a:rPr lang="es-CL" smtClean="0"/>
              <a:t>08-02-2026</a:t>
            </a:fld>
            <a:endParaRPr lang="es-C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67FFE169-9FB1-ED7B-EAC9-D0B39511AC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43EF4F5F-6BE6-C0CF-C9B3-ACFEE50DF9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80ED8-028B-4411-A492-1315B547133A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0898141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987B86EC-3834-253B-8B2A-380ECEBECF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F89978-69C7-4378-905A-31587C1AE4AC}" type="datetimeFigureOut">
              <a:rPr lang="es-CL" smtClean="0"/>
              <a:t>08-02-2026</a:t>
            </a:fld>
            <a:endParaRPr lang="es-CL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FB49F9BA-7CEA-A77F-5C33-1105B9088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9BA3F8A-69EB-26B2-99FD-981F7941B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80ED8-028B-4411-A492-1315B547133A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506499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F666C41-5691-66E2-1ADF-609351B2F3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21744BF-6F24-645E-F79A-38512CA184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94C92D8D-35C3-DA70-8B16-9596E08DC5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91339590-93EF-6515-3BD2-6DBE604E5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F89978-69C7-4378-905A-31587C1AE4AC}" type="datetimeFigureOut">
              <a:rPr lang="es-CL" smtClean="0"/>
              <a:t>08-02-2026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55559C5-C541-AE3D-8511-7854D8EACC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DDAE5FC-2944-AE90-B55F-1C13EC5119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80ED8-028B-4411-A492-1315B547133A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902421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3B0EBA5-54F8-7FED-1B8C-900D47FC57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91811BFC-BE6F-E40D-EE17-00A537679A2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CF193E2-6C30-5C2D-6E7B-543052001E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9B374F5-CDFF-381C-0CDF-287E5B731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F89978-69C7-4378-905A-31587C1AE4AC}" type="datetimeFigureOut">
              <a:rPr lang="es-CL" smtClean="0"/>
              <a:t>08-02-2026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DCD2F2A-7EF4-27C0-5FC4-E5AB48E9E3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B651769-6A2E-5D08-93A0-F7D3B86AC9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80ED8-028B-4411-A492-1315B547133A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0872678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187ABA-DAC7-71CE-9D1C-833D17A879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F2941F51-0282-D484-7038-E3884ABDE5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B293BE7-542F-CA0F-5361-67B94B699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F89978-69C7-4378-905A-31587C1AE4AC}" type="datetimeFigureOut">
              <a:rPr lang="es-CL" smtClean="0"/>
              <a:t>08-02-2026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A8868F2-5C6F-360F-ECE1-C9E581CD15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B303CEC-C88B-9EA8-58E8-300D2D417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80ED8-028B-4411-A492-1315B547133A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4880304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4CAE1EEC-FE80-00AB-912A-8AFFFE870FF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24C9A577-057B-5399-B875-D4C95ABFD4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CDDC165-3204-AECC-67AD-23CDB9DCE8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F89978-69C7-4378-905A-31587C1AE4AC}" type="datetimeFigureOut">
              <a:rPr lang="es-CL" smtClean="0"/>
              <a:t>08-02-2026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73A54A0-12CB-12BC-4445-8AF41CD638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053F8EB-A72A-1DC2-C72B-D8814C0798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80ED8-028B-4411-A492-1315B547133A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0563704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4B08660D-E347-9A27-0516-FBBFF961A1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496E45E-903B-5CA1-8870-09088CF73D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C129EEB-6D2A-F662-DAFB-193A9D2013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F89978-69C7-4378-905A-31587C1AE4AC}" type="datetimeFigureOut">
              <a:rPr lang="es-CL" smtClean="0"/>
              <a:t>08-02-2026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3318863-DC6D-3F18-89A0-D40925B992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B02E0CD-4AAF-4C50-543F-A4A6FF732A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6380ED8-028B-4411-A492-1315B547133A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2899163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27CE853-105A-FF9B-6292-6D7E0A73728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CL"/>
              <a:t>Estimación Geologica</a:t>
            </a:r>
            <a:endParaRPr lang="es-CL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376037D-AC26-CE32-9599-BD71006A672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s-CL" dirty="0"/>
              <a:t>Como le aplico machine </a:t>
            </a:r>
            <a:r>
              <a:rPr lang="es-CL" dirty="0" err="1"/>
              <a:t>learning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5489272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3C2ED93-6FC5-3C38-B8B6-658F941B5E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L" dirty="0"/>
          </a:p>
          <a:p>
            <a:pPr lvl="1"/>
            <a:r>
              <a:rPr lang="es-CL" dirty="0">
                <a:highlight>
                  <a:srgbClr val="FFFF00"/>
                </a:highlight>
              </a:rPr>
              <a:t>Se quiere estimar recursos </a:t>
            </a:r>
            <a:r>
              <a:rPr lang="es-CL" dirty="0" err="1">
                <a:highlight>
                  <a:srgbClr val="FFFF00"/>
                </a:highlight>
              </a:rPr>
              <a:t>geometalurgicos</a:t>
            </a:r>
            <a:r>
              <a:rPr lang="es-CL" dirty="0">
                <a:highlight>
                  <a:srgbClr val="FFFF00"/>
                </a:highlight>
              </a:rPr>
              <a:t>.</a:t>
            </a:r>
          </a:p>
          <a:p>
            <a:pPr lvl="1"/>
            <a:r>
              <a:rPr lang="es-CL" dirty="0"/>
              <a:t>Que diferencia tiene el recurso </a:t>
            </a:r>
            <a:r>
              <a:rPr lang="es-CL" dirty="0" err="1"/>
              <a:t>geometalurgico</a:t>
            </a:r>
            <a:endParaRPr lang="es-CL" dirty="0"/>
          </a:p>
          <a:p>
            <a:pPr lvl="1"/>
            <a:r>
              <a:rPr lang="es-CL" dirty="0"/>
              <a:t>Es distinto a los geológicos ? Distinto a los geoquímicos?</a:t>
            </a:r>
          </a:p>
          <a:p>
            <a:pPr lvl="2"/>
            <a:r>
              <a:rPr lang="es-CL" dirty="0"/>
              <a:t>Si, en cantidad de datos, no aditivas, no correlacionadas tan </a:t>
            </a:r>
            <a:r>
              <a:rPr lang="es-CL" dirty="0" err="1"/>
              <a:t>facil</a:t>
            </a:r>
            <a:endParaRPr lang="es-CL" dirty="0"/>
          </a:p>
          <a:p>
            <a:pPr lvl="1"/>
            <a:endParaRPr lang="es-CL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6459730-014E-CC6D-A991-B4DA8423C7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s-CL" dirty="0"/>
              <a:t>Que problemas estamos resolviendo</a:t>
            </a:r>
            <a:br>
              <a:rPr lang="es-CL" dirty="0"/>
            </a:b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33648209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FF5CBC8-646E-DDB7-47E9-43BC226CB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Que ventajas generamos con el machine </a:t>
            </a:r>
            <a:r>
              <a:rPr lang="es-CL" dirty="0" err="1"/>
              <a:t>learning</a:t>
            </a:r>
            <a:r>
              <a:rPr lang="es-CL" dirty="0"/>
              <a:t> en lugar de </a:t>
            </a:r>
            <a:r>
              <a:rPr lang="es-CL" dirty="0" err="1"/>
              <a:t>kriging</a:t>
            </a:r>
            <a:r>
              <a:rPr lang="es-CL" dirty="0"/>
              <a:t> o id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C7DA3D1-9FD7-3A3D-9A72-8A393DAE03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s-CL" dirty="0"/>
              <a:t>Reducir el tiempo</a:t>
            </a:r>
          </a:p>
          <a:p>
            <a:pPr lvl="1"/>
            <a:r>
              <a:rPr lang="es-CL" dirty="0"/>
              <a:t>“Ahorrar el estudio del comportamiento espacial”</a:t>
            </a:r>
          </a:p>
          <a:p>
            <a:pPr lvl="1"/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26457011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70181D9-9A17-660D-4B55-4331B2FE73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314961" cy="2175669"/>
          </a:xfrm>
        </p:spPr>
        <p:txBody>
          <a:bodyPr/>
          <a:lstStyle/>
          <a:p>
            <a:r>
              <a:rPr lang="es-CL" dirty="0"/>
              <a:t>Hay que estudiar el comportamiento de la variable en el espacio</a:t>
            </a:r>
          </a:p>
          <a:p>
            <a:pPr lvl="1"/>
            <a:endParaRPr lang="es-CL" dirty="0"/>
          </a:p>
          <a:p>
            <a:pPr lvl="1"/>
            <a:r>
              <a:rPr lang="es-CL" dirty="0" err="1"/>
              <a:t>Variograma</a:t>
            </a:r>
            <a:endParaRPr lang="es-CL" dirty="0"/>
          </a:p>
          <a:p>
            <a:pPr lvl="1"/>
            <a:r>
              <a:rPr lang="es-CL" dirty="0"/>
              <a:t>Deriva</a:t>
            </a:r>
          </a:p>
          <a:p>
            <a:pPr lvl="1"/>
            <a:r>
              <a:rPr lang="es-CL" dirty="0" err="1"/>
              <a:t>Correlograma</a:t>
            </a:r>
            <a:endParaRPr lang="es-CL" dirty="0"/>
          </a:p>
          <a:p>
            <a:pPr lvl="1"/>
            <a:endParaRPr lang="es-CL" dirty="0"/>
          </a:p>
        </p:txBody>
      </p:sp>
      <p:pic>
        <p:nvPicPr>
          <p:cNvPr id="1026" name="Picture 2" descr="GEOESTADISTICA.COM :: Estimación de Recursos">
            <a:extLst>
              <a:ext uri="{FF2B5EF4-FFF2-40B4-BE49-F238E27FC236}">
                <a16:creationId xmlns:a16="http://schemas.microsoft.com/office/drawing/2014/main" id="{5252EAC9-2AF7-F1A4-BF8B-F722CAFD6D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0811" y="3498608"/>
            <a:ext cx="3562350" cy="26924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uadroTexto 1">
            <a:extLst>
              <a:ext uri="{FF2B5EF4-FFF2-40B4-BE49-F238E27FC236}">
                <a16:creationId xmlns:a16="http://schemas.microsoft.com/office/drawing/2014/main" id="{576687C2-65D8-39A2-5D02-57B25C535F6F}"/>
              </a:ext>
            </a:extLst>
          </p:cNvPr>
          <p:cNvSpPr txBox="1"/>
          <p:nvPr/>
        </p:nvSpPr>
        <p:spPr>
          <a:xfrm>
            <a:off x="8748251" y="3040003"/>
            <a:ext cx="26055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dirty="0" err="1"/>
              <a:t>Variograma</a:t>
            </a:r>
            <a:endParaRPr lang="es-CL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B7888D49-BE77-78CE-CEB0-B4884475E862}"/>
              </a:ext>
            </a:extLst>
          </p:cNvPr>
          <p:cNvSpPr txBox="1"/>
          <p:nvPr/>
        </p:nvSpPr>
        <p:spPr>
          <a:xfrm>
            <a:off x="3097161" y="3498608"/>
            <a:ext cx="424077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dirty="0"/>
              <a:t>La correlación que hay entre variables de acuerdo a la distancia</a:t>
            </a:r>
          </a:p>
          <a:p>
            <a:endParaRPr lang="es-CL" dirty="0"/>
          </a:p>
          <a:p>
            <a:r>
              <a:rPr lang="es-CL" dirty="0"/>
              <a:t>Se estudia si la variable tiene un comportamiento preferente en alguna dirección</a:t>
            </a:r>
          </a:p>
          <a:p>
            <a:endParaRPr lang="es-CL" dirty="0"/>
          </a:p>
          <a:p>
            <a:r>
              <a:rPr lang="es-CL" dirty="0"/>
              <a:t>¿y si no tiene un comportamiento preferente?- Omnidireccional</a:t>
            </a:r>
          </a:p>
        </p:txBody>
      </p:sp>
    </p:spTree>
    <p:extLst>
      <p:ext uri="{BB962C8B-B14F-4D97-AF65-F5344CB8AC3E}">
        <p14:creationId xmlns:p14="http://schemas.microsoft.com/office/powerpoint/2010/main" val="41486463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02E703A-B464-63E3-5C7B-4BB3B278D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Agregar el concepto de tolerancia en el </a:t>
            </a:r>
            <a:r>
              <a:rPr lang="es-CL" dirty="0" err="1"/>
              <a:t>variograma</a:t>
            </a:r>
            <a:endParaRPr lang="es-CL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4B4C1D2-1350-66D4-352E-6DEE5F8C4F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34183345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E8DAC04-2C7A-F62B-82D3-3AC5B6589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Si tengo el </a:t>
            </a:r>
            <a:r>
              <a:rPr lang="es-CL" dirty="0" err="1"/>
              <a:t>kriging</a:t>
            </a:r>
            <a:r>
              <a:rPr lang="es-CL" dirty="0"/>
              <a:t> y todas sus variantes</a:t>
            </a:r>
            <a:br>
              <a:rPr lang="es-CL" dirty="0"/>
            </a:br>
            <a:r>
              <a:rPr lang="es-CL" dirty="0"/>
              <a:t>¿para que quiero usar machine </a:t>
            </a:r>
            <a:r>
              <a:rPr lang="es-CL" dirty="0" err="1"/>
              <a:t>learning</a:t>
            </a:r>
            <a:r>
              <a:rPr lang="es-CL" dirty="0"/>
              <a:t>?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4E75EF6-C916-6324-1804-A129980541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s-CL" dirty="0"/>
              <a:t>Los modelos estimadores como inverso de la distancia o </a:t>
            </a:r>
            <a:r>
              <a:rPr lang="es-CL" dirty="0" err="1"/>
              <a:t>kriging</a:t>
            </a:r>
            <a:r>
              <a:rPr lang="es-CL" dirty="0"/>
              <a:t> necesitan un estudio previo del comportamiento de la variable en el espacio.</a:t>
            </a:r>
          </a:p>
          <a:p>
            <a:pPr lvl="1"/>
            <a:r>
              <a:rPr lang="es-CL" dirty="0"/>
              <a:t> No se si inverso de la distancia necesita estudiar la variable en el espacio. -  Es un método “Bruto”</a:t>
            </a:r>
          </a:p>
          <a:p>
            <a:pPr lvl="1"/>
            <a:r>
              <a:rPr lang="es-CL" dirty="0"/>
              <a:t>Entonces, el machine </a:t>
            </a:r>
            <a:r>
              <a:rPr lang="es-CL" dirty="0" err="1"/>
              <a:t>learning</a:t>
            </a:r>
            <a:r>
              <a:rPr lang="es-CL" dirty="0"/>
              <a:t> (ml) necesito estudiar la variable en el espacio ?</a:t>
            </a:r>
          </a:p>
          <a:p>
            <a:pPr lvl="1"/>
            <a:r>
              <a:rPr lang="es-CL" dirty="0"/>
              <a:t>El ML es capaz de aprender de correlaciones no lineales si la variable de entrada son las coordenadas? (</a:t>
            </a:r>
            <a:r>
              <a:rPr lang="es-CL" dirty="0" err="1"/>
              <a:t>x,y,z</a:t>
            </a:r>
            <a:r>
              <a:rPr lang="es-CL" dirty="0"/>
              <a:t>) ??</a:t>
            </a:r>
          </a:p>
          <a:p>
            <a:pPr lvl="1"/>
            <a:r>
              <a:rPr lang="es-CL" dirty="0"/>
              <a:t>Solo me bastaría con procesar los datos, </a:t>
            </a:r>
            <a:r>
              <a:rPr lang="es-CL" dirty="0">
                <a:highlight>
                  <a:srgbClr val="00FF00"/>
                </a:highlight>
              </a:rPr>
              <a:t>que el input sean (</a:t>
            </a:r>
            <a:r>
              <a:rPr lang="es-CL" dirty="0" err="1">
                <a:highlight>
                  <a:srgbClr val="00FF00"/>
                </a:highlight>
              </a:rPr>
              <a:t>x,y,z</a:t>
            </a:r>
            <a:r>
              <a:rPr lang="es-CL" dirty="0">
                <a:highlight>
                  <a:srgbClr val="00FF00"/>
                </a:highlight>
              </a:rPr>
              <a:t>) </a:t>
            </a:r>
            <a:r>
              <a:rPr lang="es-CL" dirty="0"/>
              <a:t>y que la magia resuelva ?</a:t>
            </a:r>
          </a:p>
        </p:txBody>
      </p:sp>
    </p:spTree>
    <p:extLst>
      <p:ext uri="{BB962C8B-B14F-4D97-AF65-F5344CB8AC3E}">
        <p14:creationId xmlns:p14="http://schemas.microsoft.com/office/powerpoint/2010/main" val="1804454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137DC5C-CA7A-2D45-88DB-3F19B34B2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Que modelo de machine </a:t>
            </a:r>
            <a:r>
              <a:rPr lang="es-CL" dirty="0" err="1"/>
              <a:t>learning</a:t>
            </a:r>
            <a:r>
              <a:rPr lang="es-CL" dirty="0"/>
              <a:t> usar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295061C-4519-FE64-06BD-494948C6FF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L" dirty="0"/>
              <a:t>¿Me sirven todos los modelos?</a:t>
            </a:r>
          </a:p>
          <a:p>
            <a:pPr lvl="1"/>
            <a:r>
              <a:rPr lang="es-CL" dirty="0" err="1"/>
              <a:t>Random</a:t>
            </a:r>
            <a:r>
              <a:rPr lang="es-CL" dirty="0"/>
              <a:t> </a:t>
            </a:r>
            <a:r>
              <a:rPr lang="es-CL" dirty="0" err="1"/>
              <a:t>forest</a:t>
            </a:r>
            <a:endParaRPr lang="es-CL" dirty="0"/>
          </a:p>
          <a:p>
            <a:pPr lvl="1"/>
            <a:r>
              <a:rPr lang="es-CL" dirty="0" err="1"/>
              <a:t>XGBoost</a:t>
            </a:r>
            <a:endParaRPr lang="es-CL" dirty="0"/>
          </a:p>
          <a:p>
            <a:pPr lvl="1"/>
            <a:r>
              <a:rPr lang="es-CL" dirty="0" err="1"/>
              <a:t>Regression</a:t>
            </a:r>
            <a:r>
              <a:rPr lang="es-CL" dirty="0"/>
              <a:t> linear</a:t>
            </a:r>
          </a:p>
          <a:p>
            <a:pPr lvl="1"/>
            <a:r>
              <a:rPr lang="es-CL" dirty="0"/>
              <a:t>SVM</a:t>
            </a:r>
          </a:p>
          <a:p>
            <a:pPr lvl="1"/>
            <a:r>
              <a:rPr lang="es-CL" dirty="0"/>
              <a:t>Otros</a:t>
            </a:r>
          </a:p>
          <a:p>
            <a:pPr lvl="1"/>
            <a:r>
              <a:rPr lang="es-CL" dirty="0"/>
              <a:t>Me olvide de varios D:</a:t>
            </a:r>
          </a:p>
        </p:txBody>
      </p:sp>
    </p:spTree>
    <p:extLst>
      <p:ext uri="{BB962C8B-B14F-4D97-AF65-F5344CB8AC3E}">
        <p14:creationId xmlns:p14="http://schemas.microsoft.com/office/powerpoint/2010/main" val="10421492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BDA9838-6ED4-D19E-3D2C-4C033C712C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Estudio de los datos (EDA)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EBB40AA-D152-E94A-C24B-247198C250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s-CL" dirty="0"/>
              <a:t>Datos duplicados</a:t>
            </a:r>
          </a:p>
          <a:p>
            <a:r>
              <a:rPr lang="es-CL" dirty="0"/>
              <a:t>Datos faltantes</a:t>
            </a:r>
          </a:p>
          <a:p>
            <a:r>
              <a:rPr lang="es-CL" dirty="0"/>
              <a:t>Datos nulos o -99, según el contexto</a:t>
            </a:r>
          </a:p>
          <a:p>
            <a:r>
              <a:rPr lang="es-CL" dirty="0"/>
              <a:t>OJITO CON LOS OUTLIERS, es decir, no todo lo que se parezca </a:t>
            </a:r>
            <a:r>
              <a:rPr lang="es-CL" dirty="0" err="1"/>
              <a:t>outlier</a:t>
            </a:r>
            <a:r>
              <a:rPr lang="es-CL" dirty="0"/>
              <a:t> en este contexto de geología, será un </a:t>
            </a:r>
            <a:r>
              <a:rPr lang="es-CL" dirty="0" err="1"/>
              <a:t>outlier</a:t>
            </a:r>
            <a:endParaRPr lang="es-CL" dirty="0"/>
          </a:p>
          <a:p>
            <a:r>
              <a:rPr lang="es-CL" dirty="0" err="1"/>
              <a:t>Estadistica</a:t>
            </a:r>
            <a:r>
              <a:rPr lang="es-CL" dirty="0"/>
              <a:t> descriptiva.</a:t>
            </a:r>
          </a:p>
          <a:p>
            <a:r>
              <a:rPr lang="es-CL" dirty="0"/>
              <a:t>Estudio de la deriva (Comportamiento de la variable en el espacio), esta información ayuda a ver la estacionariedad (si es que la hay), ¿ Como se ve una variable que es estacionaria?, ¿Qué sígnica que sea estacionaria?. Nos metemos en un cacho con los procesos estocásticos.</a:t>
            </a:r>
          </a:p>
          <a:p>
            <a:r>
              <a:rPr lang="es-CL" dirty="0"/>
              <a:t>Hay análisis estadísticos, luego de desagrupar los datos, aun no se que es desagrupar en mallas 70x70x5, ósea un cubito en el espacio que tiene una cantidad menor de datos,</a:t>
            </a:r>
          </a:p>
        </p:txBody>
      </p:sp>
    </p:spTree>
    <p:extLst>
      <p:ext uri="{BB962C8B-B14F-4D97-AF65-F5344CB8AC3E}">
        <p14:creationId xmlns:p14="http://schemas.microsoft.com/office/powerpoint/2010/main" val="5721983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EFEAB8-DBE7-CD72-FF23-35443B5FA2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Resultados del EDA</a:t>
            </a:r>
          </a:p>
        </p:txBody>
      </p:sp>
      <p:pic>
        <p:nvPicPr>
          <p:cNvPr id="7" name="Marcador de contenido 6" descr="Gráfico&#10;&#10;El contenido generado por IA puede ser incorrecto.">
            <a:extLst>
              <a:ext uri="{FF2B5EF4-FFF2-40B4-BE49-F238E27FC236}">
                <a16:creationId xmlns:a16="http://schemas.microsoft.com/office/drawing/2014/main" id="{EC86A9A8-A72E-B637-5987-DFF6ED35CCC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181078" y="1847570"/>
            <a:ext cx="5231285" cy="4351338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AC954F39-54D5-81E6-809F-50E994FF99A4}"/>
              </a:ext>
            </a:extLst>
          </p:cNvPr>
          <p:cNvSpPr txBox="1"/>
          <p:nvPr/>
        </p:nvSpPr>
        <p:spPr>
          <a:xfrm>
            <a:off x="1779637" y="2595717"/>
            <a:ext cx="279236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dirty="0" err="1"/>
              <a:t>Transformacion</a:t>
            </a:r>
            <a:r>
              <a:rPr lang="es-CL" dirty="0"/>
              <a:t> </a:t>
            </a:r>
            <a:r>
              <a:rPr lang="es-CL" dirty="0" err="1"/>
              <a:t>gasusiana</a:t>
            </a:r>
            <a:r>
              <a:rPr lang="es-CL" dirty="0"/>
              <a:t> de los datos, llevar a mu=0 y </a:t>
            </a:r>
            <a:r>
              <a:rPr lang="es-CL" dirty="0" err="1"/>
              <a:t>devstd</a:t>
            </a:r>
            <a:r>
              <a:rPr lang="es-CL" dirty="0"/>
              <a:t> = 1</a:t>
            </a:r>
          </a:p>
        </p:txBody>
      </p:sp>
    </p:spTree>
    <p:extLst>
      <p:ext uri="{BB962C8B-B14F-4D97-AF65-F5344CB8AC3E}">
        <p14:creationId xmlns:p14="http://schemas.microsoft.com/office/powerpoint/2010/main" val="32666480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9C5BC4-5E9C-042A-1A99-10F7EF24D1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Deriva en los ejes x, y ,z</a:t>
            </a:r>
            <a:br>
              <a:rPr lang="es-CL" dirty="0"/>
            </a:br>
            <a:r>
              <a:rPr lang="es-CL" dirty="0"/>
              <a:t>con los datos sin transformar</a:t>
            </a:r>
          </a:p>
        </p:txBody>
      </p:sp>
      <p:pic>
        <p:nvPicPr>
          <p:cNvPr id="5" name="Imagen 4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622A447E-57B9-B8DE-CDA7-94CC95F9F7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651" y="2526890"/>
            <a:ext cx="10880698" cy="2655150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AAD4B50-0A60-2D7B-87B3-AC301C006E50}"/>
              </a:ext>
            </a:extLst>
          </p:cNvPr>
          <p:cNvSpPr txBox="1"/>
          <p:nvPr/>
        </p:nvSpPr>
        <p:spPr>
          <a:xfrm>
            <a:off x="1818968" y="5535561"/>
            <a:ext cx="298900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dirty="0"/>
              <a:t>Hay unos valores de Ley de Cu en 20%, donde habrá quedado ese punto.</a:t>
            </a:r>
          </a:p>
        </p:txBody>
      </p:sp>
    </p:spTree>
    <p:extLst>
      <p:ext uri="{BB962C8B-B14F-4D97-AF65-F5344CB8AC3E}">
        <p14:creationId xmlns:p14="http://schemas.microsoft.com/office/powerpoint/2010/main" val="6506720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218C386-9C89-66B8-E84D-9E65E720D1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La </a:t>
            </a:r>
            <a:r>
              <a:rPr lang="es-CL" dirty="0" err="1"/>
              <a:t>clusterizacion</a:t>
            </a:r>
            <a:r>
              <a:rPr lang="es-CL" dirty="0"/>
              <a:t>.</a:t>
            </a:r>
          </a:p>
        </p:txBody>
      </p:sp>
      <p:pic>
        <p:nvPicPr>
          <p:cNvPr id="5" name="Marcador de contenido 4" descr="Gráfico&#10;&#10;El contenido generado por IA puede ser incorrecto.">
            <a:extLst>
              <a:ext uri="{FF2B5EF4-FFF2-40B4-BE49-F238E27FC236}">
                <a16:creationId xmlns:a16="http://schemas.microsoft.com/office/drawing/2014/main" id="{051C4A19-DC4B-F5F1-7106-B745996093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737" y="2124074"/>
            <a:ext cx="4656078" cy="3898901"/>
          </a:xfrm>
          <a:prstGeom prst="rect">
            <a:avLst/>
          </a:prstGeom>
        </p:spPr>
      </p:pic>
      <p:pic>
        <p:nvPicPr>
          <p:cNvPr id="9" name="Imagen 8" descr="Interfaz de usuario gráfica, Gráfico&#10;&#10;El contenido generado por IA puede ser incorrecto.">
            <a:extLst>
              <a:ext uri="{FF2B5EF4-FFF2-40B4-BE49-F238E27FC236}">
                <a16:creationId xmlns:a16="http://schemas.microsoft.com/office/drawing/2014/main" id="{860017A6-3E0E-48C5-8FCE-CF05A71FFC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4678" y="2647950"/>
            <a:ext cx="7223585" cy="2562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07912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 descr="Texto&#10;&#10;El contenido generado por IA puede ser incorrecto.">
            <a:extLst>
              <a:ext uri="{FF2B5EF4-FFF2-40B4-BE49-F238E27FC236}">
                <a16:creationId xmlns:a16="http://schemas.microsoft.com/office/drawing/2014/main" id="{AA858AC2-E21C-4594-CB66-53DED219A4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1887" y="4448079"/>
            <a:ext cx="5868219" cy="1371791"/>
          </a:xfrm>
          <a:prstGeom prst="rect">
            <a:avLst/>
          </a:prstGeom>
        </p:spPr>
      </p:pic>
      <p:pic>
        <p:nvPicPr>
          <p:cNvPr id="6" name="Imagen 5" descr="Interfaz de usuario gráfica, Gráfico&#10;&#10;El contenido generado por IA puede ser incorrecto.">
            <a:extLst>
              <a:ext uri="{FF2B5EF4-FFF2-40B4-BE49-F238E27FC236}">
                <a16:creationId xmlns:a16="http://schemas.microsoft.com/office/drawing/2014/main" id="{CA7A29E8-2502-5C4F-D146-C43B046633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673" y="171449"/>
            <a:ext cx="9906648" cy="3514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8911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968A992-D780-AF7B-E43B-0F7B839247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 err="1"/>
              <a:t>Graficos</a:t>
            </a:r>
            <a:r>
              <a:rPr lang="es-CL" dirty="0"/>
              <a:t> 3D</a:t>
            </a:r>
          </a:p>
        </p:txBody>
      </p:sp>
      <p:pic>
        <p:nvPicPr>
          <p:cNvPr id="9" name="Imagen 8" descr="Gráfico&#10;&#10;El contenido generado por IA puede ser incorrecto.">
            <a:extLst>
              <a:ext uri="{FF2B5EF4-FFF2-40B4-BE49-F238E27FC236}">
                <a16:creationId xmlns:a16="http://schemas.microsoft.com/office/drawing/2014/main" id="{2BB86587-FF59-270C-D8E4-769789F3B7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3226" y="1956620"/>
            <a:ext cx="4572774" cy="3718590"/>
          </a:xfrm>
          <a:prstGeom prst="rect">
            <a:avLst/>
          </a:prstGeom>
        </p:spPr>
      </p:pic>
      <p:pic>
        <p:nvPicPr>
          <p:cNvPr id="11" name="Imagen 10" descr="Gráfico&#10;&#10;El contenido generado por IA puede ser incorrecto.">
            <a:extLst>
              <a:ext uri="{FF2B5EF4-FFF2-40B4-BE49-F238E27FC236}">
                <a16:creationId xmlns:a16="http://schemas.microsoft.com/office/drawing/2014/main" id="{91FD2008-24FB-78AB-2574-50D0DB01AD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956620"/>
            <a:ext cx="4719791" cy="3899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4123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C84AA3-D717-621E-33AB-DA04ED536D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Observar las variables por cortes </a:t>
            </a:r>
          </a:p>
        </p:txBody>
      </p:sp>
      <p:pic>
        <p:nvPicPr>
          <p:cNvPr id="5" name="Imagen 4" descr="Gráfico&#10;&#10;El contenido generado por IA puede ser incorrecto.">
            <a:extLst>
              <a:ext uri="{FF2B5EF4-FFF2-40B4-BE49-F238E27FC236}">
                <a16:creationId xmlns:a16="http://schemas.microsoft.com/office/drawing/2014/main" id="{705DA70A-8E0D-D340-31AE-1EE1F098F2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1471" y="1389611"/>
            <a:ext cx="7089058" cy="2457434"/>
          </a:xfrm>
          <a:prstGeom prst="rect">
            <a:avLst/>
          </a:prstGeom>
        </p:spPr>
      </p:pic>
      <p:pic>
        <p:nvPicPr>
          <p:cNvPr id="7" name="Imagen 6" descr="Gráfico&#10;&#10;El contenido generado por IA puede ser incorrecto.">
            <a:extLst>
              <a:ext uri="{FF2B5EF4-FFF2-40B4-BE49-F238E27FC236}">
                <a16:creationId xmlns:a16="http://schemas.microsoft.com/office/drawing/2014/main" id="{3D62C25B-6FA7-EE5C-E3AC-15417848D0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4103" y="3847045"/>
            <a:ext cx="7983794" cy="27736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7685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9A33B2-370D-05A3-509A-FC34C1DE6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s-CL" sz="2800" dirty="0"/>
              <a:t>Estimación</a:t>
            </a:r>
            <a:br>
              <a:rPr lang="es-CL" sz="2800" dirty="0"/>
            </a:br>
            <a:r>
              <a:rPr lang="es-CL" sz="2800" dirty="0"/>
              <a:t>Puedo estimar sin crear la unidad geológica?</a:t>
            </a:r>
            <a:br>
              <a:rPr lang="es-CL" sz="2800" dirty="0"/>
            </a:br>
            <a:r>
              <a:rPr lang="es-CL" sz="2800" dirty="0"/>
              <a:t>El ML puede aplicarse sobre todos los datos sin conocer las UG?</a:t>
            </a:r>
          </a:p>
        </p:txBody>
      </p:sp>
      <p:pic>
        <p:nvPicPr>
          <p:cNvPr id="5" name="Imagen 4" descr="Gráfico, Gráfico de dispersión&#10;&#10;El contenido generado por IA puede ser incorrecto.">
            <a:extLst>
              <a:ext uri="{FF2B5EF4-FFF2-40B4-BE49-F238E27FC236}">
                <a16:creationId xmlns:a16="http://schemas.microsoft.com/office/drawing/2014/main" id="{AD02410B-0232-A73E-D74A-33AE988BDC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739237"/>
            <a:ext cx="5344271" cy="4753638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AD8C9D29-16D4-AF56-8B70-4FFCCBC8AF83}"/>
              </a:ext>
            </a:extLst>
          </p:cNvPr>
          <p:cNvSpPr txBox="1"/>
          <p:nvPr/>
        </p:nvSpPr>
        <p:spPr>
          <a:xfrm>
            <a:off x="7886700" y="2743200"/>
            <a:ext cx="254317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dirty="0"/>
              <a:t>SVM, con todos los datos transformados gaussianos, sin eliminar ese valor de ley de </a:t>
            </a:r>
            <a:r>
              <a:rPr lang="es-CL" dirty="0" err="1"/>
              <a:t>cu</a:t>
            </a:r>
            <a:r>
              <a:rPr lang="es-CL" dirty="0"/>
              <a:t> muy alto.</a:t>
            </a:r>
          </a:p>
          <a:p>
            <a:endParaRPr lang="es-CL" dirty="0"/>
          </a:p>
          <a:p>
            <a:r>
              <a:rPr lang="es-CL" dirty="0" err="1"/>
              <a:t>Kernel</a:t>
            </a:r>
            <a:r>
              <a:rPr lang="es-CL" dirty="0"/>
              <a:t> = </a:t>
            </a:r>
            <a:r>
              <a:rPr lang="es-CL" dirty="0" err="1"/>
              <a:t>rbf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7757424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3C35807-52BD-CD5D-CFBB-818B6A0FF4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183610"/>
          </a:xfrm>
        </p:spPr>
        <p:txBody>
          <a:bodyPr/>
          <a:lstStyle/>
          <a:p>
            <a:r>
              <a:rPr lang="es-CL" dirty="0"/>
              <a:t>Modelo: K </a:t>
            </a:r>
            <a:r>
              <a:rPr lang="es-CL" dirty="0" err="1"/>
              <a:t>nearest</a:t>
            </a:r>
            <a:r>
              <a:rPr lang="es-CL" dirty="0"/>
              <a:t> </a:t>
            </a:r>
            <a:r>
              <a:rPr lang="es-CL" dirty="0" err="1"/>
              <a:t>neighbors</a:t>
            </a:r>
            <a:endParaRPr lang="es-CL" dirty="0"/>
          </a:p>
        </p:txBody>
      </p:sp>
      <p:pic>
        <p:nvPicPr>
          <p:cNvPr id="5" name="Imagen 4" descr="Gráfico, Gráfico de dispersión&#10;&#10;El contenido generado por IA puede ser incorrecto.">
            <a:extLst>
              <a:ext uri="{FF2B5EF4-FFF2-40B4-BE49-F238E27FC236}">
                <a16:creationId xmlns:a16="http://schemas.microsoft.com/office/drawing/2014/main" id="{2BC4801E-757F-E4D9-20C3-4C7533E2E8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624" y="1690688"/>
            <a:ext cx="5382376" cy="476316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FED80FCE-E273-A9B9-1EAE-7EFEF4F60595}"/>
                  </a:ext>
                </a:extLst>
              </p:cNvPr>
              <p:cNvSpPr txBox="1"/>
              <p:nvPr/>
            </p:nvSpPr>
            <p:spPr>
              <a:xfrm>
                <a:off x="7219950" y="2419350"/>
                <a:ext cx="3571875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s-CL" dirty="0"/>
                  <a:t>Con vecinos = 5</a:t>
                </a:r>
              </a:p>
              <a:p>
                <a:r>
                  <a:rPr lang="es-CL" dirty="0"/>
                  <a:t>Mientras mas vecinos, baja el</a:t>
                </a:r>
                <a14:m>
                  <m:oMath xmlns:m="http://schemas.openxmlformats.org/officeDocument/2006/math">
                    <m:r>
                      <a:rPr lang="es-CL" b="0" i="0" smtClean="0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s-CL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s-CL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s-CL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s-CL" dirty="0"/>
              </a:p>
            </p:txBody>
          </p:sp>
        </mc:Choice>
        <mc:Fallback xmlns="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FED80FCE-E273-A9B9-1EAE-7EFEF4F605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19950" y="2419350"/>
                <a:ext cx="3571875" cy="646331"/>
              </a:xfrm>
              <a:prstGeom prst="rect">
                <a:avLst/>
              </a:prstGeom>
              <a:blipFill>
                <a:blip r:embed="rId3"/>
                <a:stretch>
                  <a:fillRect l="-1365" t="-4717" b="-15094"/>
                </a:stretch>
              </a:blipFill>
            </p:spPr>
            <p:txBody>
              <a:bodyPr/>
              <a:lstStyle/>
              <a:p>
                <a:r>
                  <a:rPr lang="es-C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880145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55B6771-69BF-885F-D142-49509552E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 err="1"/>
              <a:t>XGBoost</a:t>
            </a:r>
            <a:br>
              <a:rPr lang="es-CL" dirty="0"/>
            </a:br>
            <a:r>
              <a:rPr lang="es-CL" dirty="0"/>
              <a:t>200 arboles</a:t>
            </a:r>
          </a:p>
        </p:txBody>
      </p:sp>
      <p:pic>
        <p:nvPicPr>
          <p:cNvPr id="5" name="Imagen 4" descr="Gráfico, Gráfico de dispersión&#10;&#10;El contenido generado por IA puede ser incorrecto.">
            <a:extLst>
              <a:ext uri="{FF2B5EF4-FFF2-40B4-BE49-F238E27FC236}">
                <a16:creationId xmlns:a16="http://schemas.microsoft.com/office/drawing/2014/main" id="{7B85B359-245C-3A8D-0142-2ABFB7CC89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76450"/>
            <a:ext cx="5591982" cy="4781550"/>
          </a:xfrm>
          <a:prstGeom prst="rect">
            <a:avLst/>
          </a:prstGeom>
        </p:spPr>
      </p:pic>
      <p:pic>
        <p:nvPicPr>
          <p:cNvPr id="7" name="Imagen 6" descr="Gráfico, Gráfico de barras&#10;&#10;El contenido generado por IA puede ser incorrecto.">
            <a:extLst>
              <a:ext uri="{FF2B5EF4-FFF2-40B4-BE49-F238E27FC236}">
                <a16:creationId xmlns:a16="http://schemas.microsoft.com/office/drawing/2014/main" id="{E8FE1E00-B895-24AA-43AE-3A53F19C5C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1982" y="2209799"/>
            <a:ext cx="6272912" cy="3895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36829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766882-3F7D-3A90-735E-18E97B3371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 err="1"/>
              <a:t>XGBoost</a:t>
            </a:r>
            <a:r>
              <a:rPr lang="es-CL" dirty="0"/>
              <a:t>, con interacción entre variables</a:t>
            </a:r>
          </a:p>
        </p:txBody>
      </p:sp>
      <p:pic>
        <p:nvPicPr>
          <p:cNvPr id="5" name="Imagen 4" descr="Gráfico, Gráfico de dispersión&#10;&#10;El contenido generado por IA puede ser incorrecto.">
            <a:extLst>
              <a:ext uri="{FF2B5EF4-FFF2-40B4-BE49-F238E27FC236}">
                <a16:creationId xmlns:a16="http://schemas.microsoft.com/office/drawing/2014/main" id="{46761DD3-6D9A-5B23-626D-3FD1CECF3B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66" y="2081673"/>
            <a:ext cx="5158863" cy="4411202"/>
          </a:xfrm>
          <a:prstGeom prst="rect">
            <a:avLst/>
          </a:prstGeom>
        </p:spPr>
      </p:pic>
      <p:pic>
        <p:nvPicPr>
          <p:cNvPr id="7" name="Imagen 6" descr="Gráfico, Gráfico de barras&#10;&#10;El contenido generado por IA puede ser incorrecto.">
            <a:extLst>
              <a:ext uri="{FF2B5EF4-FFF2-40B4-BE49-F238E27FC236}">
                <a16:creationId xmlns:a16="http://schemas.microsoft.com/office/drawing/2014/main" id="{8376FD3D-9937-DC3B-F143-A53B08AD4F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7264" y="2758166"/>
            <a:ext cx="5620672" cy="3486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59180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3D2E44A-C67C-B1C3-44FA-E6A489A954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Hacer la estimación, con la </a:t>
            </a:r>
            <a:r>
              <a:rPr lang="es-CL" dirty="0" err="1"/>
              <a:t>clusterizacion</a:t>
            </a:r>
            <a:endParaRPr lang="es-CL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9F2AA3F-4CBC-8862-3924-E08B380EBC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L" dirty="0"/>
              <a:t>1. hacer la estimación por </a:t>
            </a:r>
            <a:r>
              <a:rPr lang="es-CL" dirty="0" err="1"/>
              <a:t>cluster</a:t>
            </a:r>
            <a:r>
              <a:rPr lang="es-CL" dirty="0"/>
              <a:t>.</a:t>
            </a:r>
          </a:p>
          <a:p>
            <a:r>
              <a:rPr lang="es-CL" dirty="0"/>
              <a:t>2. Ocupar la variable </a:t>
            </a:r>
            <a:r>
              <a:rPr lang="es-CL" dirty="0" err="1"/>
              <a:t>cluster</a:t>
            </a:r>
            <a:r>
              <a:rPr lang="es-CL" dirty="0"/>
              <a:t> como input al modelo.</a:t>
            </a:r>
          </a:p>
          <a:p>
            <a:pPr lvl="1"/>
            <a:r>
              <a:rPr lang="es-CL" dirty="0"/>
              <a:t>Aprenderá el modelo si le doy como FEATURE el </a:t>
            </a:r>
            <a:r>
              <a:rPr lang="es-CL" dirty="0" err="1"/>
              <a:t>cluster</a:t>
            </a:r>
            <a:r>
              <a:rPr lang="es-CL" dirty="0"/>
              <a:t> ?</a:t>
            </a:r>
          </a:p>
        </p:txBody>
      </p:sp>
    </p:spTree>
    <p:extLst>
      <p:ext uri="{BB962C8B-B14F-4D97-AF65-F5344CB8AC3E}">
        <p14:creationId xmlns:p14="http://schemas.microsoft.com/office/powerpoint/2010/main" val="15964168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9AA6DD6-3EC9-6531-4189-F954BEFBAB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Estimación con </a:t>
            </a:r>
            <a:r>
              <a:rPr lang="es-CL" dirty="0" err="1"/>
              <a:t>cluster</a:t>
            </a:r>
            <a:r>
              <a:rPr lang="es-CL" dirty="0"/>
              <a:t> con FEATURE.</a:t>
            </a:r>
            <a:br>
              <a:rPr lang="es-CL" dirty="0"/>
            </a:br>
            <a:r>
              <a:rPr lang="es-CL" dirty="0"/>
              <a:t>Se probara KNN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8205EAE-B66B-04CC-DB6C-3B534C28F1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114271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5A04EBD-00F7-412A-D3A0-43C6350EE0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9A7D63F-4736-DD4D-5063-9D0253D183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L" dirty="0"/>
              <a:t>La razón de </a:t>
            </a:r>
            <a:r>
              <a:rPr lang="es-CL" dirty="0" err="1"/>
              <a:t>solubilida</a:t>
            </a:r>
            <a:r>
              <a:rPr lang="es-CL" dirty="0"/>
              <a:t> entrega mucha información, define las zonas, de óxidos, sulfuros, mixtos , etc.</a:t>
            </a:r>
          </a:p>
          <a:p>
            <a:r>
              <a:rPr lang="es-CL" dirty="0"/>
              <a:t>Será la mejor variable para definir los </a:t>
            </a:r>
            <a:r>
              <a:rPr lang="es-CL" dirty="0" err="1"/>
              <a:t>clusters</a:t>
            </a:r>
            <a:r>
              <a:rPr lang="es-CL" dirty="0"/>
              <a:t> ?</a:t>
            </a:r>
          </a:p>
          <a:p>
            <a:r>
              <a:rPr lang="es-CL" dirty="0"/>
              <a:t>Luego de definir </a:t>
            </a:r>
            <a:r>
              <a:rPr lang="es-CL" dirty="0" err="1"/>
              <a:t>cluster</a:t>
            </a:r>
            <a:r>
              <a:rPr lang="es-CL" dirty="0"/>
              <a:t> con la razón de solubilidad, podemos estimar la ley </a:t>
            </a:r>
            <a:r>
              <a:rPr lang="es-CL"/>
              <a:t>de cobre.</a:t>
            </a:r>
          </a:p>
        </p:txBody>
      </p:sp>
    </p:spTree>
    <p:extLst>
      <p:ext uri="{BB962C8B-B14F-4D97-AF65-F5344CB8AC3E}">
        <p14:creationId xmlns:p14="http://schemas.microsoft.com/office/powerpoint/2010/main" val="408461384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F844735-4ABF-8223-8412-3D0874DEF8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s-CL" sz="3600" dirty="0"/>
              <a:t>Los resultados del </a:t>
            </a:r>
            <a:r>
              <a:rPr lang="es-CL" sz="3600" dirty="0" err="1"/>
              <a:t>xgboost</a:t>
            </a:r>
            <a:r>
              <a:rPr lang="es-CL" sz="3600" dirty="0"/>
              <a:t>, indican que seria mejor aplicar Montecarlo y mostrar una distribución de soluciones.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1C89631-9CF2-7BB0-1225-5E8CAB94F2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51634250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1906</TotalTime>
  <Words>666</Words>
  <Application>Microsoft Office PowerPoint</Application>
  <PresentationFormat>Panorámica</PresentationFormat>
  <Paragraphs>71</Paragraphs>
  <Slides>22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22</vt:i4>
      </vt:variant>
    </vt:vector>
  </HeadingPairs>
  <TitlesOfParts>
    <vt:vector size="27" baseType="lpstr">
      <vt:lpstr>Aptos</vt:lpstr>
      <vt:lpstr>Aptos Display</vt:lpstr>
      <vt:lpstr>Arial</vt:lpstr>
      <vt:lpstr>Cambria Math</vt:lpstr>
      <vt:lpstr>Tema de Office</vt:lpstr>
      <vt:lpstr>Estimación Geologica</vt:lpstr>
      <vt:lpstr>Que problemas estamos resolviendo </vt:lpstr>
      <vt:lpstr>Que ventajas generamos con el machine learning en lugar de kriging o id</vt:lpstr>
      <vt:lpstr>Presentación de PowerPoint</vt:lpstr>
      <vt:lpstr>Agregar el concepto de tolerancia en el variograma</vt:lpstr>
      <vt:lpstr>Si tengo el kriging y todas sus variantes ¿para que quiero usar machine learning?</vt:lpstr>
      <vt:lpstr>Que modelo de machine learning usar</vt:lpstr>
      <vt:lpstr>Estudio de los datos (EDA)</vt:lpstr>
      <vt:lpstr>Resultados del EDA</vt:lpstr>
      <vt:lpstr>Deriva en los ejes x, y ,z con los datos sin transformar</vt:lpstr>
      <vt:lpstr>La clusterizacion.</vt:lpstr>
      <vt:lpstr>Presentación de PowerPoint</vt:lpstr>
      <vt:lpstr>Graficos 3D</vt:lpstr>
      <vt:lpstr>Observar las variables por cortes </vt:lpstr>
      <vt:lpstr>Estimación Puedo estimar sin crear la unidad geológica? El ML puede aplicarse sobre todos los datos sin conocer las UG?</vt:lpstr>
      <vt:lpstr>Modelo: K nearest neighbors</vt:lpstr>
      <vt:lpstr>XGBoost 200 arboles</vt:lpstr>
      <vt:lpstr>XGBoost, con interacción entre variables</vt:lpstr>
      <vt:lpstr>Hacer la estimación, con la clusterizacion</vt:lpstr>
      <vt:lpstr>Estimación con cluster con FEATURE. Se probara KNN</vt:lpstr>
      <vt:lpstr>Presentación de PowerPoint</vt:lpstr>
      <vt:lpstr>Los resultados del xgboost, indican que seria mejor aplicar Montecarlo y mostrar una distribución de soluciones.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Ignacio Rojas</dc:creator>
  <cp:lastModifiedBy>Ignacio Rojas</cp:lastModifiedBy>
  <cp:revision>5</cp:revision>
  <dcterms:created xsi:type="dcterms:W3CDTF">2026-01-29T01:17:24Z</dcterms:created>
  <dcterms:modified xsi:type="dcterms:W3CDTF">2026-02-09T01:54:38Z</dcterms:modified>
</cp:coreProperties>
</file>